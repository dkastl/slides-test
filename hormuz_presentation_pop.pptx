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教室のかべ、ノート、シャープペン、体育館のボール。ぜんぶ石油からできています。
でも日本では、石油はほとんど取れません。エネルギーの自給率は15.3％。使っているエネルギーの85％は、船で外国から運ばれてきます。
今日は、その石油を運ぶ1せきの船を追いかけます。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2026年2月28日、アメリカとイスラエルがイランを攻撃し、中東で戦争が始まりました。
そのすぐあと、イランは「敵対する国の船はホルムズ海峡を通ってはいけない」と発表します。3月10日ごろからは、海に機雷がまかれたと報じられました。機雷は船がぶつかると爆発します。どこにあるか分からないので、船は動けません。
3月24日には、通行料として200万ドル、約2億円を要求したとも伝えられました。
こうして、世界でいちばん大事な海の道がとまりました。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ここがペルシャ湾です。まわりはサウジアラビア、UAE、クウェート、カタール、イラク、イラン。世界でいちばん石油が取れる場所です。
その出口がホルムズ海峡。北はイラン、南はオマーン。
おどろくのは幅です。いちばんせまい所で32キロ。阪急電車で大阪梅田から神戸三宮までとほぼ同じで、西宮北口はそのまん中あたりです。毎日目にしているあの距離が、この海の幅です。
ここを1日に約1,970万バレル、世界の海を運ばれる石油の27％が通ります。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この海峡がとまって、いちばんこまるのはアジアです。
ホルムズ海峡を通る石油の9わりがアジア行き。特に中国、インド、韓国、日本。中東から見れば、アジアが最大のお客さんです。
ヨーロッパやアメリカは自分の国や近くでも石油が取れるので、それほどこまりません。アジアだけが、この32キロに生活をあずけています。
中東のニュースであると同時に、アジアのニュースなのです。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4月29日、日本の外務省が発表しました。ペルシャ湾で足止めされていた日本関係の船のうち、大型石油タンカー1せきがホルムズ海峡を通りぬけた、と。
船は5月25日、日本に到着します。海峡がとじてから初めての1せきでした。日本人の船員は3人だけだったそうです。
機雷があるかもしれない海を、ゆっくり進む。とてもこわい仕事だったはずです。
この船がどんな旅をしたのか、見ていきます。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出発はサウジアラビアのラスタヌラ港。ホルムズ海峡をぬけ、インド洋を横切ります。マレーシアとインドネシアの間のマラッカ海峡、シンガポール海峡を通り、南シナ海を北上して、やっと日本です。
かかる日数は約21日。行きと帰りで50日ほどになります。
このルートは、西アジア、南アジア、東南アジア、東アジアを全部通ります。1せきのタンカーが、アジアを横断しているのです。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長さは約340メートル、東京タワーを横にたおしたのとほぼ同じ。幅60メートル、甲板はサッカーコート3面分。
積める石油は約200万バレル、およそ3億リットル。東京ドームは、4せき分でいっぱいになります。
ものすごい量です。でも、これで日本が使う石油の半日分にしかなりません。
1人あたり1日5.8リットル。3週間かけて運んだ石油が、半日で消える。だから日本は、こういう船を何せきも動かし続けています。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危険は機雷だけではありません。
シンガポール海峡は水が浅く、通れる船の深さは20.5メートルまで。満載のタンカーは20メートルしずむので、船底と海底のすきまは3.5メートルしかありません。少しコースを外れれば座礁します。世界有数の難所です。
もうひとつは海ぞくです。2024年、世界の海ぞく事件の75％がアジアの海で起きました。シンガポール海峡は43件で世界最多。多くは夜、走っている船に乗り込んで物をぬすんでいきます。
機雷、浅い海、海ぞく。3つをこえて、やっと石油は日本に届きます。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これからどうするか。
ひとつは、ホルムズ海峡を通らない道です。UAEのフジャイラ港、サウジアラビアのヤンブー港。2026年、日本はこうしたルートからの輸入を増やしました。
もうひとつは、ためておくこと。日本の石油の備蓄は248日分、約8か月あります。
でも、ここで気づいてほしいことがあります。日本は、まだめぐまれているほうなのです。8か月分の備蓄があり、高くなった石油や、遠回りの輸送費をはらうお金もあります。
ホルムズ海峡の石油を使っているのは、中国やインドや韓国だけではありません。パキスタン、バングラデシュ、スリランカ、ミャンマー、フィリピン。備蓄が少なく、お金もかぎられた国がたくさんあります。IMFは、貧しい国ほど長く強い影響を受けると分析しています。
同じ海を使っているのに、こまり方はちがう。これは日本の問題ではなく、アジア全体の問題なのです。ありがとうございました。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6C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5852160"/>
            <a:ext cx="6858000" cy="2011680"/>
          </a:xfrm>
          <a:prstGeom prst="ellipse">
            <a:avLst/>
          </a:prstGeom>
          <a:solidFill>
            <a:srgbClr val="3FA9E0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0" y="5715000"/>
            <a:ext cx="6858000" cy="2011680"/>
          </a:xfrm>
          <a:prstGeom prst="ellipse">
            <a:avLst/>
          </a:prstGeom>
          <a:solidFill>
            <a:srgbClr val="2E9BD6"/>
          </a:solidFill>
          <a:ln/>
        </p:spPr>
      </p:sp>
      <p:sp>
        <p:nvSpPr>
          <p:cNvPr id="4" name="Shape 2"/>
          <p:cNvSpPr/>
          <p:nvPr/>
        </p:nvSpPr>
        <p:spPr>
          <a:xfrm>
            <a:off x="8595360" y="5577840"/>
            <a:ext cx="6858000" cy="2011680"/>
          </a:xfrm>
          <a:prstGeom prst="ellipse">
            <a:avLst/>
          </a:prstGeom>
          <a:solidFill>
            <a:srgbClr val="3FA9E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ホルムズ海峡から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7C331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石油がつなぐアジア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6F7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〜 1せきのタンカーの長い旅 〜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3794760"/>
            <a:ext cx="6583680" cy="1371600"/>
          </a:xfrm>
          <a:prstGeom prst="wedgeRoundRectCallout">
            <a:avLst/>
          </a:prstGeom>
          <a:solidFill>
            <a:srgbClr val="F7C33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886200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3038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この海がとまると、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B3038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アジアがとまる。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778240" y="1188720"/>
            <a:ext cx="2834640" cy="3931920"/>
          </a:xfrm>
          <a:prstGeom prst="roundRect">
            <a:avLst>
              <a:gd name="adj" fmla="val 3871"/>
            </a:avLst>
          </a:prstGeom>
          <a:solidFill>
            <a:srgbClr val="FFF7E6"/>
          </a:solidFill>
          <a:ln w="31750">
            <a:solidFill>
              <a:srgbClr val="1B6CA8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8961120" y="26974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［写真］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海をゆく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大型タンカー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6F5A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2026年に起きたこと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94360" y="1554480"/>
            <a:ext cx="2606040" cy="2926080"/>
          </a:xfrm>
          <a:prstGeom prst="roundRect">
            <a:avLst>
              <a:gd name="adj" fmla="val 5263"/>
            </a:avLst>
          </a:prstGeom>
          <a:solidFill>
            <a:srgbClr val="FFF7E6"/>
          </a:solidFill>
          <a:ln w="31750">
            <a:solidFill>
              <a:srgbClr val="EF6F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27632" y="1783080"/>
            <a:ext cx="548640" cy="548640"/>
          </a:xfrm>
          <a:prstGeom prst="ellipse">
            <a:avLst/>
          </a:prstGeom>
          <a:solidFill>
            <a:srgbClr val="EF6F5A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27632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6F5A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2月28日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303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イランで戦争が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B303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はじまる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47288" y="1554480"/>
            <a:ext cx="2606040" cy="2926080"/>
          </a:xfrm>
          <a:prstGeom prst="roundRect">
            <a:avLst>
              <a:gd name="adj" fmla="val 5263"/>
            </a:avLst>
          </a:prstGeom>
          <a:solidFill>
            <a:srgbClr val="FFF7E6"/>
          </a:solidFill>
          <a:ln w="31750">
            <a:solidFill>
              <a:srgbClr val="F7C33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1783080"/>
            <a:ext cx="548640" cy="548640"/>
          </a:xfrm>
          <a:prstGeom prst="ellipse">
            <a:avLst/>
          </a:prstGeom>
          <a:solidFill>
            <a:srgbClr val="F7C33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30168" y="2468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860B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3月2日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30168" y="30632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303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イラン「ホルムズ海峡を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B303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通るな」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0216" y="1554480"/>
            <a:ext cx="2606040" cy="2926080"/>
          </a:xfrm>
          <a:prstGeom prst="roundRect">
            <a:avLst>
              <a:gd name="adj" fmla="val 5263"/>
            </a:avLst>
          </a:prstGeom>
          <a:solidFill>
            <a:srgbClr val="FFF7E6"/>
          </a:solidFill>
          <a:ln w="31750">
            <a:solidFill>
              <a:srgbClr val="8E6C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33488" y="1783080"/>
            <a:ext cx="548640" cy="548640"/>
          </a:xfrm>
          <a:prstGeom prst="ellipse">
            <a:avLst/>
          </a:prstGeom>
          <a:solidFill>
            <a:srgbClr val="8E6CC4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3348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83096" y="2468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E6CC4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3月10日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83096" y="30632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303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海に機雷（きらい）が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B303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まかれる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53144" y="1554480"/>
            <a:ext cx="2606040" cy="2926080"/>
          </a:xfrm>
          <a:prstGeom prst="roundRect">
            <a:avLst>
              <a:gd name="adj" fmla="val 5263"/>
            </a:avLst>
          </a:prstGeom>
          <a:solidFill>
            <a:srgbClr val="FFF7E6"/>
          </a:solidFill>
          <a:ln w="31750">
            <a:solidFill>
              <a:srgbClr val="1B6C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86416" y="1783080"/>
            <a:ext cx="548640" cy="548640"/>
          </a:xfrm>
          <a:prstGeom prst="ellipse">
            <a:avLst/>
          </a:prstGeom>
          <a:solidFill>
            <a:srgbClr val="1B6CA8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86416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336024" y="24688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6CA8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3月24日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336024" y="306324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303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「通りたければ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B303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2億円はらえ」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4360" y="4800600"/>
            <a:ext cx="10972800" cy="1234440"/>
          </a:xfrm>
          <a:prstGeom prst="roundRect">
            <a:avLst>
              <a:gd name="adj" fmla="val 11111"/>
            </a:avLst>
          </a:prstGeom>
          <a:solidFill>
            <a:srgbClr val="1B6CA8"/>
          </a:solidFill>
          <a:ln w="31750">
            <a:solidFill>
              <a:srgbClr val="1B6C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800600"/>
            <a:ext cx="6035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世界でいちばん大事な海の道が、とまった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223760" y="480060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6F7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ホルムズ海峡を通る石油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E6F7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1日 約1,970万バレル（世界の27％）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4360" y="63093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9E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出典：JOGMEC「中東情勢を巡る原油市場アップデート」2026年4月16日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6CA8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ホルムズ海峡って どこ？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94360" y="1463040"/>
            <a:ext cx="6400800" cy="4526280"/>
          </a:xfrm>
          <a:prstGeom prst="roundRect">
            <a:avLst>
              <a:gd name="adj" fmla="val 2424"/>
            </a:avLst>
          </a:prstGeom>
          <a:solidFill>
            <a:srgbClr val="FFF7E6"/>
          </a:solidFill>
          <a:ln w="31750">
            <a:solidFill>
              <a:srgbClr val="2E9BD6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777240" y="326898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9BD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［地図］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E9BD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ペルシャ湾とホルムズ海峡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E9BD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（北＝イラン ／ 南＝オマーン・UAE）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0" y="1463040"/>
            <a:ext cx="2377440" cy="2377440"/>
          </a:xfrm>
          <a:prstGeom prst="star16">
            <a:avLst/>
          </a:prstGeom>
          <a:solidFill>
            <a:srgbClr val="F7C33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0" y="19659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3038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32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0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3038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km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829800" y="19659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6CA8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いちばん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B6CA8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せまい所は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0" y="4114800"/>
            <a:ext cx="4297680" cy="1874520"/>
          </a:xfrm>
          <a:prstGeom prst="roundRect">
            <a:avLst>
              <a:gd name="adj" fmla="val 7317"/>
            </a:avLst>
          </a:prstGeom>
          <a:solidFill>
            <a:srgbClr val="FFF7E6"/>
          </a:solidFill>
          <a:ln w="31750">
            <a:solidFill>
              <a:srgbClr val="EF6F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0" y="42519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9E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阪急電車で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89520" y="45445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6F5A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大阪梅田 → 神戸三宮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589520" y="50749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CA8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西宮北口は、ちょうどそのまん中！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589520" y="5486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303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毎日のっている、あの距離が海のはば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63093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9E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出典：経済産業省（2026年3月24日）／JOGMEC（2026年4月16日）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FAE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こまるのは、アジア！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FF3E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ホルムズ海峡を通る石油の…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3108960" cy="3108960"/>
          </a:xfrm>
          <a:prstGeom prst="ellipse">
            <a:avLst/>
          </a:prstGeom>
          <a:solidFill>
            <a:srgbClr val="F7C331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9260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2B3038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9わり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114800" y="31089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が アジア行き！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731520" y="5349240"/>
            <a:ext cx="1463040" cy="731520"/>
          </a:xfrm>
          <a:prstGeom prst="roundRect">
            <a:avLst>
              <a:gd name="adj" fmla="val 25000"/>
            </a:avLst>
          </a:prstGeom>
          <a:solidFill>
            <a:srgbClr val="EF6F5A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3492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中国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423160" y="5349240"/>
            <a:ext cx="1463040" cy="731520"/>
          </a:xfrm>
          <a:prstGeom prst="roundRect">
            <a:avLst>
              <a:gd name="adj" fmla="val 25000"/>
            </a:avLst>
          </a:prstGeom>
          <a:solidFill>
            <a:srgbClr val="8E6CC4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53492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インド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114800" y="5349240"/>
            <a:ext cx="1463040" cy="731520"/>
          </a:xfrm>
          <a:prstGeom prst="roundRect">
            <a:avLst>
              <a:gd name="adj" fmla="val 25000"/>
            </a:avLst>
          </a:prstGeom>
          <a:solidFill>
            <a:srgbClr val="2E9BD6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0" y="53492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韓国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806440" y="5349240"/>
            <a:ext cx="1463040" cy="731520"/>
          </a:xfrm>
          <a:prstGeom prst="roundRect">
            <a:avLst>
              <a:gd name="adj" fmla="val 25000"/>
            </a:avLst>
          </a:prstGeom>
          <a:solidFill>
            <a:srgbClr val="F7C33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06440" y="53492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3038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日本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680960" y="1600200"/>
            <a:ext cx="3931920" cy="4023360"/>
          </a:xfrm>
          <a:prstGeom prst="roundRect">
            <a:avLst>
              <a:gd name="adj" fmla="val 2791"/>
            </a:avLst>
          </a:prstGeom>
          <a:solidFill>
            <a:srgbClr val="FFF7E6"/>
          </a:solidFill>
          <a:ln w="31750">
            <a:solidFill>
              <a:srgbClr val="4FAE62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7863840" y="31546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AE6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［円グラフ］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FAE6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アジア 90％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FAE62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その他 10％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63093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6D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出典：JOGMEC「中東情勢を巡る原油市場アップデート」2026年4月16日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8860B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1せきの船が、通りぬけた！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94360" y="1554480"/>
            <a:ext cx="5074920" cy="2514600"/>
          </a:xfrm>
          <a:prstGeom prst="roundRect">
            <a:avLst>
              <a:gd name="adj" fmla="val 5455"/>
            </a:avLst>
          </a:prstGeom>
          <a:solidFill>
            <a:srgbClr val="FFF7E6"/>
          </a:solidFill>
          <a:ln w="31750">
            <a:solidFill>
              <a:srgbClr val="2E9BD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78308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9BD6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4月29日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60120" y="23774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038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外務省が発表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88036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03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大型石油タンカー1せきが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303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ホルムズ海峡を通過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074920" cy="2514600"/>
          </a:xfrm>
          <a:prstGeom prst="roundRect">
            <a:avLst>
              <a:gd name="adj" fmla="val 5455"/>
            </a:avLst>
          </a:prstGeom>
          <a:solidFill>
            <a:srgbClr val="FFF7E6"/>
          </a:solidFill>
          <a:ln w="31750">
            <a:solidFill>
              <a:srgbClr val="EF6F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78308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6F5A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5月25日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83680" y="23774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3038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日本に到着！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288036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03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海峡がとじてから初めての1せき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303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日本人の船員は3人だけ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4343400"/>
            <a:ext cx="10972800" cy="1691640"/>
          </a:xfrm>
          <a:prstGeom prst="roundRect">
            <a:avLst>
              <a:gd name="adj" fmla="val 6486"/>
            </a:avLst>
          </a:prstGeom>
          <a:solidFill>
            <a:srgbClr val="FFF7E6"/>
          </a:solidFill>
          <a:ln w="31750">
            <a:solidFill>
              <a:srgbClr val="8E6CC4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77240" y="47320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6CC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［写真］ 日本の港に着いたタンカー、または新聞の見出し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63093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9E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出典：JETRO ビジネス短信（2026年4月30日）／NHKニュース（2026年5月25日）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E6CC4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タンカーの大ぼうけん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94360" y="1463040"/>
            <a:ext cx="7680960" cy="3840480"/>
          </a:xfrm>
          <a:prstGeom prst="roundRect">
            <a:avLst>
              <a:gd name="adj" fmla="val 2857"/>
            </a:avLst>
          </a:prstGeom>
          <a:solidFill>
            <a:srgbClr val="FFF7E6"/>
          </a:solidFill>
          <a:ln w="31750">
            <a:solidFill>
              <a:srgbClr val="8E6CC4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777240" y="2926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6CC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［地図］ アジア全体　赤い線でルートを引く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E6CC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ホルムズ海峡・マラッカ／シンガポール海峡・日本に印をつける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595360" y="1463040"/>
            <a:ext cx="3017520" cy="1554480"/>
          </a:xfrm>
          <a:prstGeom prst="roundRect">
            <a:avLst>
              <a:gd name="adj" fmla="val 8824"/>
            </a:avLst>
          </a:prstGeom>
          <a:solidFill>
            <a:srgbClr val="F7C331"/>
          </a:solidFill>
          <a:ln w="31750">
            <a:solidFill>
              <a:srgbClr val="D69B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0" y="162763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B3038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約21日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595360" y="2468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3038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ほぼ3週間！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595360" y="3273552"/>
            <a:ext cx="274320" cy="274320"/>
          </a:xfrm>
          <a:prstGeom prst="ellipse">
            <a:avLst/>
          </a:prstGeom>
          <a:solidFill>
            <a:srgbClr val="2E9BD6"/>
          </a:solidFill>
          <a:ln/>
        </p:spPr>
      </p:sp>
      <p:sp>
        <p:nvSpPr>
          <p:cNvPr id="9" name="Text 7"/>
          <p:cNvSpPr/>
          <p:nvPr/>
        </p:nvSpPr>
        <p:spPr>
          <a:xfrm>
            <a:off x="8979408" y="324612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03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ペルシャ湾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595360" y="3657600"/>
            <a:ext cx="274320" cy="274320"/>
          </a:xfrm>
          <a:prstGeom prst="ellipse">
            <a:avLst/>
          </a:prstGeom>
          <a:solidFill>
            <a:srgbClr val="EF6F5A"/>
          </a:solidFill>
          <a:ln/>
        </p:spPr>
      </p:sp>
      <p:sp>
        <p:nvSpPr>
          <p:cNvPr id="11" name="Text 9"/>
          <p:cNvSpPr/>
          <p:nvPr/>
        </p:nvSpPr>
        <p:spPr>
          <a:xfrm>
            <a:off x="8979408" y="363016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03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ホルムズ海峡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595360" y="4041648"/>
            <a:ext cx="274320" cy="274320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13" name="Text 11"/>
          <p:cNvSpPr/>
          <p:nvPr/>
        </p:nvSpPr>
        <p:spPr>
          <a:xfrm>
            <a:off x="8979408" y="401421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03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インド洋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95360" y="4425696"/>
            <a:ext cx="274320" cy="274320"/>
          </a:xfrm>
          <a:prstGeom prst="ellipse">
            <a:avLst/>
          </a:prstGeom>
          <a:solidFill>
            <a:srgbClr val="8E6CC4"/>
          </a:solidFill>
          <a:ln/>
        </p:spPr>
      </p:sp>
      <p:sp>
        <p:nvSpPr>
          <p:cNvPr id="15" name="Text 13"/>
          <p:cNvSpPr/>
          <p:nvPr/>
        </p:nvSpPr>
        <p:spPr>
          <a:xfrm>
            <a:off x="8979408" y="439826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03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マラッカ・シンガポール海峡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95360" y="4809744"/>
            <a:ext cx="274320" cy="274320"/>
          </a:xfrm>
          <a:prstGeom prst="ellipse">
            <a:avLst/>
          </a:prstGeom>
          <a:solidFill>
            <a:srgbClr val="1B6CA8"/>
          </a:solidFill>
          <a:ln/>
        </p:spPr>
      </p:sp>
      <p:sp>
        <p:nvSpPr>
          <p:cNvPr id="17" name="Text 15"/>
          <p:cNvSpPr/>
          <p:nvPr/>
        </p:nvSpPr>
        <p:spPr>
          <a:xfrm>
            <a:off x="8979408" y="478231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303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南シナ海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595360" y="5193792"/>
            <a:ext cx="274320" cy="274320"/>
          </a:xfrm>
          <a:prstGeom prst="ellipse">
            <a:avLst/>
          </a:prstGeom>
          <a:solidFill>
            <a:srgbClr val="4FAE62"/>
          </a:solidFill>
          <a:ln/>
        </p:spPr>
      </p:sp>
      <p:sp>
        <p:nvSpPr>
          <p:cNvPr id="19" name="Text 17"/>
          <p:cNvSpPr/>
          <p:nvPr/>
        </p:nvSpPr>
        <p:spPr>
          <a:xfrm>
            <a:off x="8979408" y="516636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303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日本！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" y="5440680"/>
            <a:ext cx="7680960" cy="685800"/>
          </a:xfrm>
          <a:prstGeom prst="roundRect">
            <a:avLst>
              <a:gd name="adj" fmla="val 20000"/>
            </a:avLst>
          </a:prstGeom>
          <a:solidFill>
            <a:srgbClr val="FFF7E6"/>
          </a:solidFill>
          <a:ln w="31750">
            <a:solidFill>
              <a:srgbClr val="8E6C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44068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E6CC4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西アジア → 南アジア → 東南アジア → 東アジア。船がアジアを横断している！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3093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9E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出典：JOGMEC（2026年4月16日）／日本郵船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6F5A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この船、どれくらい大きい？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94360" y="1463040"/>
            <a:ext cx="5760720" cy="2377440"/>
          </a:xfrm>
          <a:prstGeom prst="roundRect">
            <a:avLst>
              <a:gd name="adj" fmla="val 4615"/>
            </a:avLst>
          </a:prstGeom>
          <a:solidFill>
            <a:srgbClr val="FFF7E6"/>
          </a:solidFill>
          <a:ln w="31750">
            <a:solidFill>
              <a:srgbClr val="EF6F5A"/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777240" y="219456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F6F5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［イラスト］ タンカーと、横にたおした東京タワーを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F6F5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同じ大きさでならべる（線画でOK）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720840" y="1463040"/>
            <a:ext cx="4846320" cy="713232"/>
          </a:xfrm>
          <a:prstGeom prst="roundRect">
            <a:avLst>
              <a:gd name="adj" fmla="val 19231"/>
            </a:avLst>
          </a:prstGeom>
          <a:solidFill>
            <a:srgbClr val="FFF7E6"/>
          </a:solidFill>
          <a:ln w="31750">
            <a:solidFill>
              <a:srgbClr val="2E9B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0" y="149961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9BD6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長さ 340m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006840" y="149961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303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東京タワーを横にたおした長さ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720840" y="2304288"/>
            <a:ext cx="4846320" cy="713232"/>
          </a:xfrm>
          <a:prstGeom prst="roundRect">
            <a:avLst>
              <a:gd name="adj" fmla="val 19231"/>
            </a:avLst>
          </a:prstGeom>
          <a:solidFill>
            <a:srgbClr val="FFF7E6"/>
          </a:solidFill>
          <a:ln w="31750">
            <a:solidFill>
              <a:srgbClr val="8E6C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0" y="234086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E6CC4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3億リットル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006840" y="234086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303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4せき分で東京ドームがいっぱい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20840" y="3145536"/>
            <a:ext cx="4846320" cy="713232"/>
          </a:xfrm>
          <a:prstGeom prst="roundRect">
            <a:avLst>
              <a:gd name="adj" fmla="val 19231"/>
            </a:avLst>
          </a:prstGeom>
          <a:solidFill>
            <a:srgbClr val="FFF7E6"/>
          </a:solidFill>
          <a:ln w="31750">
            <a:solidFill>
              <a:srgbClr val="4FAE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0" y="318211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FAE62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甲板の広さ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006840" y="318211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303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サッカーコート3面分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4160520"/>
            <a:ext cx="10972800" cy="1874520"/>
          </a:xfrm>
          <a:prstGeom prst="roundRect">
            <a:avLst>
              <a:gd name="adj" fmla="val 7317"/>
            </a:avLst>
          </a:prstGeom>
          <a:solidFill>
            <a:srgbClr val="EF6F5A"/>
          </a:solidFill>
          <a:ln w="31750">
            <a:solidFill>
              <a:srgbClr val="C450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3434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E0D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でも、日本が使う石油の…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470916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たった 半日分！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400800" y="45720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3週間かけて運んだ石油が、半日で消える。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日本人は1人1日あたり、平均5.8リットルの石油を使っている。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63093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9E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出典：日本郵船／商船三井（タンカーの大きさ）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E6CC4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旅には、もっと危険がある！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94360" y="1600200"/>
            <a:ext cx="3383280" cy="3017520"/>
          </a:xfrm>
          <a:prstGeom prst="roundRect">
            <a:avLst>
              <a:gd name="adj" fmla="val 4545"/>
            </a:avLst>
          </a:prstGeom>
          <a:solidFill>
            <a:srgbClr val="FFF7E6"/>
          </a:solidFill>
          <a:ln w="31750">
            <a:solidFill>
              <a:srgbClr val="EF6F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828800"/>
            <a:ext cx="685800" cy="685800"/>
          </a:xfrm>
          <a:prstGeom prst="ellipse">
            <a:avLst/>
          </a:prstGeom>
          <a:solidFill>
            <a:srgbClr val="EF6F5A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F6F5A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ホルムズ海峡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03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機雷（きらい）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303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どこにあるか分からない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600200"/>
            <a:ext cx="3383280" cy="3017520"/>
          </a:xfrm>
          <a:prstGeom prst="roundRect">
            <a:avLst>
              <a:gd name="adj" fmla="val 4545"/>
            </a:avLst>
          </a:prstGeom>
          <a:solidFill>
            <a:srgbClr val="FFF7E6"/>
          </a:solidFill>
          <a:ln w="31750">
            <a:solidFill>
              <a:srgbClr val="2E9B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1828800"/>
            <a:ext cx="685800" cy="685800"/>
          </a:xfrm>
          <a:prstGeom prst="ellipse">
            <a:avLst/>
          </a:prstGeom>
          <a:solidFill>
            <a:srgbClr val="2E9BD6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63440" y="2697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9BD6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シンガポール海峡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63440" y="320040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03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海底まで あと3.5m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303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コースを外れると座礁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83880" y="1600200"/>
            <a:ext cx="3383280" cy="3017520"/>
          </a:xfrm>
          <a:prstGeom prst="roundRect">
            <a:avLst>
              <a:gd name="adj" fmla="val 4545"/>
            </a:avLst>
          </a:prstGeom>
          <a:solidFill>
            <a:srgbClr val="FFF7E6"/>
          </a:solidFill>
          <a:ln w="31750">
            <a:solidFill>
              <a:srgbClr val="8E6C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03920" y="1828800"/>
            <a:ext cx="685800" cy="685800"/>
          </a:xfrm>
          <a:prstGeom prst="ellipse">
            <a:avLst/>
          </a:prstGeom>
          <a:solidFill>
            <a:srgbClr val="8E6CC4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458200" y="2697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E6CC4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海ぞく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458200" y="320040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03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2024年 43件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303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世界でいちばん多い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" y="4846320"/>
            <a:ext cx="10972800" cy="1143000"/>
          </a:xfrm>
          <a:prstGeom prst="roundRect">
            <a:avLst>
              <a:gd name="adj" fmla="val 9600"/>
            </a:avLst>
          </a:prstGeom>
          <a:solidFill>
            <a:srgbClr val="FFF7E6"/>
          </a:solidFill>
          <a:ln w="31750">
            <a:solidFill>
              <a:srgbClr val="2E9BD6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777240" y="49606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9BD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［図］ ②は断面図が分かりやすい：船の底と海底のすきま3.5mを赤くぬる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63093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39E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出典：外務省 海外安全ホームページ（海賊等事案）／出光タンカー（喫水）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6C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これから、どうする？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85800" y="1417320"/>
            <a:ext cx="2788920" cy="12801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31750">
            <a:solidFill>
              <a:srgbClr val="F7C33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727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A00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ホルムズを通らない道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03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フジャイラ・ヤンブー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703320" y="1417320"/>
            <a:ext cx="2788920" cy="12801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31750">
            <a:solidFill>
              <a:srgbClr val="4FAE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0" y="15727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AE62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ためておく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31920" y="20116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303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備蓄 248日分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0" y="1417320"/>
            <a:ext cx="4754880" cy="1280160"/>
          </a:xfrm>
          <a:prstGeom prst="roundRect">
            <a:avLst>
              <a:gd name="adj" fmla="val 8571"/>
            </a:avLst>
          </a:prstGeom>
          <a:solidFill>
            <a:srgbClr val="FFF7E6"/>
          </a:solidFill>
          <a:ln w="31750">
            <a:solidFill>
              <a:srgbClr val="F7C331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7040880" y="16002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7C331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［地図］ ホルムズの石油を使うアジアの国ぐに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3154680"/>
            <a:ext cx="10927080" cy="2788920"/>
          </a:xfrm>
          <a:prstGeom prst="roundRect">
            <a:avLst>
              <a:gd name="adj" fmla="val 4918"/>
            </a:avLst>
          </a:prstGeom>
          <a:solidFill>
            <a:srgbClr val="F7C331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520440"/>
            <a:ext cx="10058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2B3038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同じ海。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2B3038"/>
                </a:solidFill>
                <a:latin typeface="HGP創英角ポップ体" pitchFamily="34" charset="0"/>
                <a:ea typeface="HGP創英角ポップ体" pitchFamily="34" charset="-122"/>
                <a:cs typeface="HGP創英角ポップ体" pitchFamily="34" charset="-120"/>
              </a:rPr>
              <a:t>でも、こまり方はちがう。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109728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4E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日本　｜　備蓄8か月分。買うお金もある。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54132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4E0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ほかのアジアの国　｜　備蓄も、お金も少ない。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4360" y="630936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6D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出典：経済産業省／資源エネルギー庁／JOGMEC／外務省／JETRO／NHK／日本郵船／出光タンカー（2026年8月時点）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石油がつなぐアジア</dc:title>
  <dc:subject>PptxGenJS Presentation</dc:subject>
  <dc:creator>PptxGenJS</dc:creator>
  <cp:lastModifiedBy>PptxGenJS</cp:lastModifiedBy>
  <cp:revision>1</cp:revision>
  <dcterms:created xsi:type="dcterms:W3CDTF">2026-08-24T11:57:41Z</dcterms:created>
  <dcterms:modified xsi:type="dcterms:W3CDTF">2026-08-24T11:57:41Z</dcterms:modified>
</cp:coreProperties>
</file>