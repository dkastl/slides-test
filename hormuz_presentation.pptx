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教室のかべ、ノート、シャープペン、体育館のボール。ぜんぶ石油からできています。
でも日本では、石油はほとんど取れません。エネルギーの自給率は15.3％。使っているエネルギーの85％は、船で外国から運ばれてきます。
今日は、その石油を運ぶ1せきの船を追いかけます。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2026年2月28日、アメリカとイスラエルがイランを攻撃し、中東で戦争が始まりました。
そのすぐあと、イランは「敵対する国の船はホルムズ海峡を通ってはいけない」と発表します。3月10日ごろからは、海に機雷がまかれたと報じられました。機雷は船がぶつかると爆発します。どこにあるか分からないので、船は動けません。
3月24日には、通行料として200万ドル、約2億円を要求したとも伝えられました。
こうして、世界でいちばん大事な海の道がとまりました。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ここがペルシャ湾です。まわりはサウジアラビア、UAE、クウェート、カタール、イラク、イラン。世界でいちばん石油が取れる場所です。
その出口がホルムズ海峡。北はイラン、南はオマーン。
おどろくのは幅です。いちばんせまい所で32キロ。阪急電車で大阪梅田から神戸三宮までとほぼ同じで、西宮北口はそのまん中あたりです。毎日目にしているあの距離が、この海の幅です。
ここを1日に約1,970万バレル、世界の海を運ばれる石油の27％が通ります。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この海峡がとまって、いちばんこまるのはアジアです。
ホルムズ海峡を通る石油の9わりがアジア行き。特に中国、インド、韓国、日本。中東から見れば、アジアが最大のお客さんです。
ヨーロッパやアメリカは自分の国や近くでも石油が取れるので、それほどこまりません。アジアだけが、この32キロに生活をあずけています。
中東のニュースであると同時に、アジアのニュースなのです。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4月29日、日本の外務省が発表しました。ペルシャ湾で足止めされていた日本関係の船のうち、大型石油タンカー1せきがホルムズ海峡を通りぬけた、と。
船は5月25日、日本に到着します。海峡がとじてから初めての1せきでした。日本人の船員は3人だけだったそうです。
機雷があるかもしれない海を、ゆっくり進む。とてもこわい仕事だったはずです。
この船がどんな旅をしたのか、見ていきます。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出発はサウジアラビアのラスタヌラ港。ホルムズ海峡をぬけ、インド洋を横切ります。マレーシアとインドネシアの間のマラッカ海峡、シンガポール海峡を通り、南シナ海を北上して、やっと日本です。
かかる日数は約21日。行きと帰りで50日ほどになります。
このルートは、西アジア、南アジア、東南アジア、東アジアを全部通ります。1せきのタンカーが、アジアを横断しているのです。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長さは約340メートル、東京タワーを横にたおしたのとほぼ同じ。幅60メートル、甲板はサッカーコート3面分。
積める石油は約200万バレル、およそ3億リットル。東京ドームは、4せき分でいっぱいになります。
ものすごい量です。でも、これで日本が使う石油の半日分にしかなりません。
1人あたり1日5.8リットル。3週間かけて運んだ石油が、半日で消える。だから日本は、こういう船を何せきも動かし続けています。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危険は機雷だけではありません。
シンガポール海峡は水が浅く、通れる船の深さは20.5メートルまで。満載のタンカーは20メートルしずむので、船底と海底のすきまは3.5メートルしかありません。少しコースを外れれば座礁します。世界有数の難所です。
もうひとつは海ぞくです。2024年、世界の海ぞく事件の75％がアジアの海で起きました。シンガポール海峡は43件で世界最多。多くは夜、走っている船に乗り込んで物をぬすんでいきます。
機雷、浅い海、海ぞく。3つをこえて、やっと石油は日本に届きます。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これからどうするか。
ひとつは、ホルムズ海峡を通らない道です。UAEのフジャイラ港、サウジアラビアのヤンブー港。2026年、日本はこうしたルートからの輸入を増やしました。
もうひとつは、ためておくこと。日本の石油の備蓄は248日分、約8か月あります。
でも、ここで気づいてほしいことがあります。日本は、まだめぐまれているほうなのです。8か月分の備蓄があり、高くなった石油や、遠回りの輸送費をはらうお金もあります。
ホルムズ海峡の石油を使っているのは、中国やインドや韓国だけではありません。パキスタン、バングラデシュ、スリランカ、ミャンマー、フィリピン。備蓄が少なく、お金もかぎられた国がたくさんあります。IMFは、貧しい国ほど長く強い影響を受けると分析しています。
同じ海を使っているのに、こまり方はちがう。これは日本の問題ではなく、アジア全体の問題なのです。ありがとうございました。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0"/>
            <a:ext cx="5852160" cy="6858000"/>
          </a:xfrm>
          <a:prstGeom prst="roundRect">
            <a:avLst>
              <a:gd name="adj" fmla="val 1250"/>
            </a:avLst>
          </a:prstGeom>
          <a:solidFill>
            <a:srgbClr val="EDF3F7"/>
          </a:solidFill>
          <a:ln w="15875">
            <a:solidFill>
              <a:srgbClr val="1C7293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492240" y="30175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［写真］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海をゆく大型タンカー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ホルムズ海峡から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39A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石油がつなぐアジア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BD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 1せきのタンカーの長い旅 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20624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23324F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42062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この海がとまると、アジアがとまる。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2026年に起きたこと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68680" y="3063240"/>
            <a:ext cx="10424160" cy="45720"/>
          </a:xfrm>
          <a:prstGeom prst="rect">
            <a:avLst/>
          </a:prstGeom>
          <a:solidFill>
            <a:srgbClr val="D3DEE7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" y="2935224"/>
            <a:ext cx="301752" cy="3017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148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2月28日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3429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イランで戦争が始まる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85616" y="2935224"/>
            <a:ext cx="301752" cy="3017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2148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3月2日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383280" y="3429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イラン「ホルムズ海峡を通るな」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83096" y="2935224"/>
            <a:ext cx="301752" cy="3017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080760" y="2148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3月10日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080760" y="3429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海に機雷（きらい）がまかれる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80576" y="2935224"/>
            <a:ext cx="301752" cy="301752"/>
          </a:xfrm>
          <a:prstGeom prst="ellipse">
            <a:avLst/>
          </a:prstGeom>
          <a:solidFill>
            <a:srgbClr val="E39A2B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0" y="2148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3月24日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778240" y="3429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「通りたければ2億円はらえ」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70916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16233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709160"/>
            <a:ext cx="6035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世界でいちばん大事な海の道が、事実上とじた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223760" y="470916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ホルムズ海峡を通る石油　1日 約1,970万バレル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BD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世界の海上石油輸送の 27％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出典：JOGMEC「中東情勢を巡る原油市場アップデート」2026年4月16日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ホルムズ海峡ってどこ？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6492240" cy="4480560"/>
          </a:xfrm>
          <a:prstGeom prst="roundRect">
            <a:avLst>
              <a:gd name="adj" fmla="val 1633"/>
            </a:avLst>
          </a:prstGeom>
          <a:solidFill>
            <a:srgbClr val="EDF3F7"/>
          </a:solidFill>
          <a:ln w="15875">
            <a:solidFill>
              <a:srgbClr val="1C729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822960" y="32918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［地図］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ペルシャ湾とホルムズ海峡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（北＝イラン／南＝オマーン・UAE）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35240" y="1600200"/>
            <a:ext cx="1920240" cy="19202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635240" y="2061058"/>
            <a:ext cx="1920240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635240" y="2675534"/>
            <a:ext cx="192024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92640" y="19202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いちばん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せまい所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35240" y="3886200"/>
            <a:ext cx="3931920" cy="2057400"/>
          </a:xfrm>
          <a:prstGeom prst="roundRect">
            <a:avLst>
              <a:gd name="adj" fmla="val 3556"/>
            </a:avLst>
          </a:prstGeom>
          <a:solidFill>
            <a:srgbClr val="EDF3F7"/>
          </a:solidFill>
          <a:ln/>
        </p:spPr>
      </p:sp>
      <p:sp>
        <p:nvSpPr>
          <p:cNvPr id="10" name="Text 8"/>
          <p:cNvSpPr/>
          <p:nvPr/>
        </p:nvSpPr>
        <p:spPr>
          <a:xfrm>
            <a:off x="7909560" y="4069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阪急電車で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09560" y="4389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大阪梅田 → 神戸三宮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909560" y="4892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西宮北口は、ちょうどそのまん中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09560" y="53035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1日に通る石油　約1,970万バレル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世界の海上輸送の 27％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出典：経済産業省（2026年3月24日）／JOGMEC（2026年4月16日）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こまるのは、アジア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BD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ホルムズ海峡を通る石油の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1520" y="224028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E39A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9わり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731520" y="36118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 アジア行き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4526280"/>
            <a:ext cx="1143000" cy="685800"/>
          </a:xfrm>
          <a:prstGeom prst="roundRect">
            <a:avLst>
              <a:gd name="adj" fmla="val 10667"/>
            </a:avLst>
          </a:prstGeom>
          <a:solidFill>
            <a:srgbClr val="23324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52628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中国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57400" y="4526280"/>
            <a:ext cx="1143000" cy="685800"/>
          </a:xfrm>
          <a:prstGeom prst="roundRect">
            <a:avLst>
              <a:gd name="adj" fmla="val 10667"/>
            </a:avLst>
          </a:prstGeom>
          <a:solidFill>
            <a:srgbClr val="23324F"/>
          </a:solidFill>
          <a:ln/>
        </p:spPr>
      </p:sp>
      <p:sp>
        <p:nvSpPr>
          <p:cNvPr id="9" name="Text 7"/>
          <p:cNvSpPr/>
          <p:nvPr/>
        </p:nvSpPr>
        <p:spPr>
          <a:xfrm>
            <a:off x="2057400" y="452628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インド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4526280"/>
            <a:ext cx="1143000" cy="685800"/>
          </a:xfrm>
          <a:prstGeom prst="roundRect">
            <a:avLst>
              <a:gd name="adj" fmla="val 10667"/>
            </a:avLst>
          </a:prstGeom>
          <a:solidFill>
            <a:srgbClr val="23324F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452628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韓国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709160" y="4526280"/>
            <a:ext cx="1143000" cy="685800"/>
          </a:xfrm>
          <a:prstGeom prst="roundRect">
            <a:avLst>
              <a:gd name="adj" fmla="val 10667"/>
            </a:avLst>
          </a:prstGeom>
          <a:solidFill>
            <a:srgbClr val="23324F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452628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92240" y="1463040"/>
            <a:ext cx="5029200" cy="4480560"/>
          </a:xfrm>
          <a:prstGeom prst="roundRect">
            <a:avLst>
              <a:gd name="adj" fmla="val 1633"/>
            </a:avLst>
          </a:prstGeom>
          <a:solidFill>
            <a:srgbClr val="EDF3F7"/>
          </a:solidFill>
          <a:ln w="15875">
            <a:solidFill>
              <a:srgbClr val="1C7293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675120" y="32918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［円グラフ］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アジア 90％ ／ その他 10％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A2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出典：JOGMEC「中東情勢を巡る原油市場アップデート」2026年4月16日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1せきの船が、通りぬけた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029200" cy="2377440"/>
          </a:xfrm>
          <a:prstGeom prst="roundRect">
            <a:avLst>
              <a:gd name="adj" fmla="val 3846"/>
            </a:avLst>
          </a:prstGeom>
          <a:solidFill>
            <a:srgbClr val="EDF3F7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8288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4月29日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23774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外務省が発表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78892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大型石油タンカー1せきが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ホルムズ海峡を通過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029200" cy="2377440"/>
          </a:xfrm>
          <a:prstGeom prst="roundRect">
            <a:avLst>
              <a:gd name="adj" fmla="val 3846"/>
            </a:avLst>
          </a:prstGeom>
          <a:solidFill>
            <a:srgbClr val="EDF3F7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8288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9A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5月25日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583680" y="23774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日本に到着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278892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海峡が閉じてから初めての1せき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日本人の船員は3人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20624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EDF3F7"/>
          </a:solidFill>
          <a:ln w="15875">
            <a:solidFill>
              <a:srgbClr val="1C7293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822960" y="4663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［写真］ 日本の港に着いたタンカー、または新聞の見出し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出典：JETRO ビジネス短信（2026年4月30日）／NHKニュース（2026年5月25日）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タンカーの旅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7772400" cy="3794760"/>
          </a:xfrm>
          <a:prstGeom prst="roundRect">
            <a:avLst>
              <a:gd name="adj" fmla="val 1928"/>
            </a:avLst>
          </a:prstGeom>
          <a:solidFill>
            <a:srgbClr val="EDF3F7"/>
          </a:solidFill>
          <a:ln w="15875">
            <a:solidFill>
              <a:srgbClr val="1C729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822960" y="290322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［地図］ アジア全体　赤い線でルートを引く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ホルムズ海峡・マラッカ／シンガポール海峡・日本に印をつける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778240" y="141732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0" y="16002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約21日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77824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BD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ほぼ3週間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78240" y="31089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　ペルシャ湾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0" y="3474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　ホルムズ海峡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778240" y="3840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　インド洋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78240" y="4206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　マラッカ・シンガポール海峡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78240" y="4572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　南シナ海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778240" y="4937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9A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　日本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53492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西アジア → 南アジア → 東南アジア → 東アジア。1せきの船が、アジアを横断している。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出典：JOGMEC（2026年4月16日）／日本郵船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この船、どれくらい大きい？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852160" cy="2331720"/>
          </a:xfrm>
          <a:prstGeom prst="roundRect">
            <a:avLst>
              <a:gd name="adj" fmla="val 3137"/>
            </a:avLst>
          </a:prstGeom>
          <a:solidFill>
            <a:srgbClr val="EDF3F7"/>
          </a:solidFill>
          <a:ln w="15875">
            <a:solidFill>
              <a:srgbClr val="1C729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822960" y="21717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［イラスト］ タンカーと、横にたおした東京タワーを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同じ大きさでならべる（線画でOK）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0" y="141732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EDF3F7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4630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長さ 340m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052560" y="1463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東京タワーを横にたおした長さ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0" y="224028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EDF3F7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0" y="22860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3億リットル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052560" y="22860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4せき分で東京ドームがいっぱい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0" y="306324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EDF3F7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0" y="31089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甲板の広さ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052560" y="31089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サッカーコート3面分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10881360" cy="1828800"/>
          </a:xfrm>
          <a:prstGeom prst="roundRect">
            <a:avLst>
              <a:gd name="adj" fmla="val 5000"/>
            </a:avLst>
          </a:prstGeom>
          <a:solidFill>
            <a:srgbClr val="16233F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976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BD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でも、日本が使う石油の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46634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39A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 半日分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309360" y="45262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3週間かけて運んだ石油が、半日で消える。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日本人は1人1日あたり、平均5.8リットルの石油を使っている。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出典：日本郵船／商船三井（タンカーの大きさ）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旅には、もっと危険がある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EDF3F7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828800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28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ホルムズ海峡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3154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機雷（きらい）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どこにあるか分からない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EDF3F7"/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1828800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828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09160" y="2651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シンガポール海峡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09160" y="3154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海底まで あと3.5m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コースを外れると座礁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EDF3F7"/>
          </a:solidFill>
          <a:ln/>
        </p:spPr>
      </p:sp>
      <p:sp>
        <p:nvSpPr>
          <p:cNvPr id="14" name="Shape 12"/>
          <p:cNvSpPr/>
          <p:nvPr/>
        </p:nvSpPr>
        <p:spPr>
          <a:xfrm>
            <a:off x="8458200" y="1828800"/>
            <a:ext cx="658368" cy="658368"/>
          </a:xfrm>
          <a:prstGeom prst="ellipse">
            <a:avLst/>
          </a:prstGeom>
          <a:solidFill>
            <a:srgbClr val="E39A2B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1828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58200" y="2651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海ぞく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58200" y="3154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2024年 43件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世界でいちばん多い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8920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DF3F7"/>
          </a:solidFill>
          <a:ln w="15875">
            <a:solidFill>
              <a:srgbClr val="1C7293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822960" y="50063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［図］ ②は断面図が分かりやすい：船の底と海底のすきま3.5mを赤くぬる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出典：外務省 海外安全ホームページ（海賊等事案）／出光タンカー（喫水）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これから、どうする？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2514600" cy="1234440"/>
          </a:xfrm>
          <a:prstGeom prst="roundRect">
            <a:avLst>
              <a:gd name="adj" fmla="val 7407"/>
            </a:avLst>
          </a:prstGeom>
          <a:solidFill>
            <a:srgbClr val="23324F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6459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9A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ホルムズを通らない道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60120" y="20574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フジャイラ・ヤンブー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0" y="1463040"/>
            <a:ext cx="2514600" cy="1234440"/>
          </a:xfrm>
          <a:prstGeom prst="roundRect">
            <a:avLst>
              <a:gd name="adj" fmla="val 7407"/>
            </a:avLst>
          </a:prstGeom>
          <a:solidFill>
            <a:srgbClr val="23324F"/>
          </a:solidFill>
          <a:ln/>
        </p:spPr>
      </p:sp>
      <p:sp>
        <p:nvSpPr>
          <p:cNvPr id="7" name="Text 5"/>
          <p:cNvSpPr/>
          <p:nvPr/>
        </p:nvSpPr>
        <p:spPr>
          <a:xfrm>
            <a:off x="3703320" y="16459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9A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ためておく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03320" y="20574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備蓄 248日分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146304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EDF3F7"/>
          </a:solidFill>
          <a:ln w="15875">
            <a:solidFill>
              <a:srgbClr val="1C7293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675120" y="16687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［地図］ ホルムズの石油を使うアジアの国ぐに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200400"/>
            <a:ext cx="10789920" cy="2743200"/>
          </a:xfrm>
          <a:prstGeom prst="roundRect">
            <a:avLst>
              <a:gd name="adj" fmla="val 3333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566160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同じ海。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でも、こまり方はちがう。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143000" y="50292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6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　｜　備蓄8か月分。買うお金もある。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541324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6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ほかのアジアの国　｜　備蓄も、お金も少ない。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A2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出典：経済産業省／資源エネルギー庁／JOGMEC／外務省／JETRO／NHK／日本郵船／出光タンカー（2026年8月時点）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石油がつなぐアジア</dc:title>
  <dc:subject>PptxGenJS Presentation</dc:subject>
  <dc:creator/>
  <cp:lastModifiedBy/>
  <cp:revision>1</cp:revision>
  <dcterms:created xsi:type="dcterms:W3CDTF">2026-08-24T11:57:41Z</dcterms:created>
  <dcterms:modified xsi:type="dcterms:W3CDTF">2026-08-24T11:57:41Z</dcterms:modified>
</cp:coreProperties>
</file>